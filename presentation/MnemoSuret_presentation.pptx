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923010c5-3f1b-5aa6-b5b9-521c6adb4e10}">
          <p14:sldIdLst>
            <p14:sldId id="256"/>
            <p14:sldId id="257"/>
            <p14:sldId id="258"/>
          </p14:sldIdLst>
        </p14:section>
        <p14:section name="Әдіс" id="{412df33b-4c53-7cce-07e5-2678a95edb35}">
          <p14:sldIdLst>
            <p14:sldId id="259"/>
            <p14:sldId id="260"/>
            <p14:sldId id="261"/>
          </p14:sldIdLst>
        </p14:section>
        <p14:section name="Қосымша" id="{4fba1fa5-28a8-0376-58a9-33948ab124de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Нәтижелер" id="{95d5c2d1-e117-0269-d10b-2654da94f57a}">
          <p14:sldIdLst>
            <p14:sldId id="269"/>
            <p14:sldId id="270"/>
            <p14:sldId id="271"/>
          </p14:sldIdLst>
        </p14:section>
        <p14:section name="Қорытынды" id="{a32c9acd-4360-9eb5-4335-9cfcc7139584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1-ұсыныс дұрыс</c:v>
                </c:pt>
              </c:strCache>
            </c:strRef>
          </c:tx>
          <c:spPr>
            <a:solidFill>
              <a:srgbClr val="8445C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93</c:v>
                </c:pt>
                <c:pt idx="2">
                  <c:v>100</c:v>
                </c:pt>
                <c:pt idx="3">
                  <c:v>100</c:v>
                </c:pt>
                <c:pt idx="4">
                  <c:v>98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Алғашқы 3 ұсыныста</c:v>
                </c:pt>
              </c:strCache>
            </c:strRef>
          </c:tx>
          <c:spPr>
            <a:solidFill>
              <a:srgbClr val="C9B3E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+mn-lt"/>
              </a:rPr>
              <a:t>Пернелер / басулар саны (8 мысалдың орташасы)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Әрекет</c:v>
                </c:pt>
              </c:strCache>
            </c:strRef>
          </c:tx>
          <c:spPr>
            <a:solidFill>
              <a:srgbClr val="2F7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7F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45C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Ағылшынша промпт жазу</c:v>
                  </c:pt>
                  <c:pt idx="1">
                    <c:v>Қазақша сипаттама жазу</c:v>
                  </c:pt>
                  <c:pt idx="2">
                    <c:v>МнемоСурет (басу)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36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+mn-lt"/>
              </a:rPr>
              <a:t>46 карточка, 5 санат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Карточкалар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484D"/>
              </a:solidFill>
              <a:effectLst/>
            </c:spPr>
          </c:dPt>
          <c:dPt>
            <c:idx val="1"/>
            <c:bubble3D val="0"/>
            <c:spPr>
              <a:solidFill>
                <a:srgbClr val="F2A10C"/>
              </a:solidFill>
              <a:effectLst/>
            </c:spPr>
          </c:dPt>
          <c:dPt>
            <c:idx val="2"/>
            <c:bubble3D val="0"/>
            <c:spPr>
              <a:solidFill>
                <a:srgbClr val="2F9E5B"/>
              </a:solidFill>
              <a:effectLst/>
            </c:spPr>
          </c:dPt>
          <c:dPt>
            <c:idx val="3"/>
            <c:bubble3D val="0"/>
            <c:spPr>
              <a:solidFill>
                <a:srgbClr val="2F7FD8"/>
              </a:solidFill>
              <a:effectLst/>
            </c:spPr>
          </c:dPt>
          <c:dPt>
            <c:idx val="4"/>
            <c:bubble3D val="0"/>
            <c:spPr>
              <a:solidFill>
                <a:srgbClr val="8445C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Кім? (10)</c:v>
                </c:pt>
                <c:pt idx="1">
                  <c:v>Қайда? (10)</c:v>
                </c:pt>
                <c:pt idx="2">
                  <c:v>Не істейді? (10)</c:v>
                </c:pt>
                <c:pt idx="3">
                  <c:v>Қандай? (9)</c:v>
                </c:pt>
                <c:pt idx="4">
                  <c:v>Қалай? (7)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Тақырыпты атап, жұмыстың мақсатын бір сөйлеммен айту: жазу қиындығы бар бала да ЖИ-мен сурет сала алуы керек.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ой: генератордың кіру нүктесі — жазу. Дисграфиясы бар балаға дәл осы кедергі. 7–15% — шетелдік шолу деректері (Döhla &amp; Heim, Frontiers in Psychology, 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Мақсат пен бес міндетті атап өту. Әр міндетке келесі слайдтарда нәтиже көрсетіледі.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Мнемоника бала білетін тізбекке — кемпірқосақ түстеріне — сүйенеді. Бала сұрақтар ретін есте сақтайды, промптты өзі жазбайды.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 принцип дисграфияның нақты қиындығына жауап береді: жазу, оқу, әріп шатастыру, есте сақтау.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 ағымы: бала → интерфейс → промпт → генератор. Төменгі қатар — көмекші модульдер.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Басты бет баланы мнемоникамен таныстырады: мұнда жазу мүлдем жоқ.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Үйрену режимінде қадамдар тек ретімен ашылады — бұл мнемоникалық тізбекті бекітеді.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нақты жұмыстан алынған: сурет ЖИ генераторынан келген.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модуль дисграфияның басты көрінісіне — әріп түсіру, ауыстыру, шатастыруға — арналған.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Галерея нәтижені көрсетеді және мнемоникалық кодты қайталап бекітеді.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Мұғалім баланың прогресін бақылап, интерфейсті жеке бейімдейді. Скриншоттағы сандар — демо режим деректері.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Сабақ үстінде интернет үзілсе де, бала нәтиже алады. Бұл ерекше білім беру қажеттілігі бар балалар үшін маңызды.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сандар жүйенің өзінен алынған: тест скрипті әр сөзге қате енгізіп, модуль оны таныды ма, тексереді.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Ағылшынша промпт орташа 77 таңба, МнемоСурет — 5 карточка + 1 батырма. Сандар жобадағы 8 мысал бойынша есептелген.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әдейі қарапайым: мектептегі кез келген компьютерде немесе планшетте орнатусыз ашылады.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Нәтижелерді қорытып, пилоттық зерттеу жоспарын атау.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 көрсету: «Үйрену» режимінде бір суретті тікелей салып шығу.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949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34340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nbow-dot-1"/>
          <p:cNvSpPr/>
          <p:nvPr/>
        </p:nvSpPr>
        <p:spPr>
          <a:xfrm>
            <a:off x="640080" y="114300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rainbow-dot-2"/>
          <p:cNvSpPr/>
          <p:nvPr/>
        </p:nvSpPr>
        <p:spPr>
          <a:xfrm>
            <a:off x="960120" y="1143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rainbow-dot-3"/>
          <p:cNvSpPr/>
          <p:nvPr/>
        </p:nvSpPr>
        <p:spPr>
          <a:xfrm>
            <a:off x="1280160" y="114300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rainbow-dot-4"/>
          <p:cNvSpPr/>
          <p:nvPr/>
        </p:nvSpPr>
        <p:spPr>
          <a:xfrm>
            <a:off x="1600200" y="1143000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rainbow-dot-5"/>
          <p:cNvSpPr/>
          <p:nvPr/>
        </p:nvSpPr>
        <p:spPr>
          <a:xfrm>
            <a:off x="1920240" y="1143000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Дисграфиясы бар балаларға ЖИ графикалық генераторларын қолдануды үйретуге арналған мнемоникалық интерфейсті бағдарламалық әзірлеу</a:t>
            </a:r>
            <a:endParaRPr lang="en-US" sz="3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64008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6"/>
                </a:solidFill>
              </a:rPr>
              <a:t>«МнемоСурет» веб-қосымшасы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DCF"/>
                </a:solidFill>
              </a:rPr>
              <a:t>Орындаған: [аты-жөні]   ·   Ғылыми жетекші: [аты-жөні]   ·   2026</a:t>
            </a:r>
            <a:endParaRPr lang="en-US" sz="1400" dirty="0"/>
          </a:p>
        </p:txBody>
      </p:sp>
      <p:sp>
        <p:nvSpPr>
          <p:cNvPr id="10" name="cover-frame"/>
          <p:cNvSpPr/>
          <p:nvPr/>
        </p:nvSpPr>
        <p:spPr>
          <a:xfrm>
            <a:off x="8183880" y="1051560"/>
            <a:ext cx="3429000" cy="34290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/>
        </p:spPr>
      </p:sp>
      <p:pic>
        <p:nvPicPr>
          <p:cNvPr id="11" name="cover-image" descr="C:\Users\Meiram\Documents\проекты\mnemo-ai\presentation\shots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143000"/>
            <a:ext cx="3246120" cy="3246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83880" y="4617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CE6"/>
                </a:solidFill>
              </a:rPr>
              <a:t>🐱 Мысық  ·  🚀 ғарышта  ·  🪁 ұшады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937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ADCF"/>
                </a:solidFill>
              </a:rPr>
              <a:t>Бала 6 рет басып салған сурет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Өзектілігі: ЖИ генераторы жазуды талап етеді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tat-card"/>
          <p:cNvSpPr/>
          <p:nvPr/>
        </p:nvSpPr>
        <p:spPr>
          <a:xfrm>
            <a:off x="621792" y="1463040"/>
            <a:ext cx="34747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7–15%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651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оқушыларда дамудың дисграфиясы кездеседі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7"/>
                </a:solidFill>
              </a:rPr>
              <a:t>Döhla &amp; Heim, 2016</a:t>
            </a:r>
            <a:endParaRPr lang="en-US" sz="1100" dirty="0"/>
          </a:p>
        </p:txBody>
      </p:sp>
      <p:sp>
        <p:nvSpPr>
          <p:cNvPr id="12" name="stat-card"/>
          <p:cNvSpPr/>
          <p:nvPr/>
        </p:nvSpPr>
        <p:spPr>
          <a:xfrm>
            <a:off x="4352544" y="1463040"/>
            <a:ext cx="34747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26864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77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651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таңба — бір суретке ағылшынша промпттың орташа ұзындығы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7"/>
                </a:solidFill>
              </a:rPr>
              <a:t>жобадағы 8 мысал бойынша есеп</a:t>
            </a:r>
            <a:endParaRPr lang="en-US" sz="1100" dirty="0"/>
          </a:p>
        </p:txBody>
      </p:sp>
      <p:sp>
        <p:nvSpPr>
          <p:cNvPr id="16" name="stat-card"/>
          <p:cNvSpPr/>
          <p:nvPr/>
        </p:nvSpPr>
        <p:spPr>
          <a:xfrm>
            <a:off x="8083296" y="1463040"/>
            <a:ext cx="3474720" cy="2514600"/>
          </a:xfrm>
          <a:prstGeom prst="roundRect">
            <a:avLst>
              <a:gd name="adj" fmla="val 6545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7616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36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651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таңба — сол сипаттаманың қазақша нұсқасы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7"/>
                </a:solidFill>
              </a:rPr>
              <a:t>жобадағы 8 мысал бойынша есеп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343400"/>
            <a:ext cx="10927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Мәселе.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Midjourney, DALL·E, Stable Diffusion сияқты генераторлар тек мәтіндік сұранысты (промптты) түсінеді. Әріптерді шатастыратын, сөзді қате жазатын бала шығармашылық құралдан тыс қалады, ал ағылшынша промпт оны одан әрі қиындатады.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Мақсаты мен міндеттері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goal-card"/>
          <p:cNvSpPr/>
          <p:nvPr/>
        </p:nvSpPr>
        <p:spPr>
          <a:xfrm>
            <a:off x="621792" y="1417320"/>
            <a:ext cx="3931920" cy="4480560"/>
          </a:xfrm>
          <a:prstGeom prst="roundRect">
            <a:avLst>
              <a:gd name="adj" fmla="val 4186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Мақсат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Дисграфиясы бар балаға жазу дағдысына сүйенбей, мнемоникалық тірек арқылы ЖИ генераторына сурет салдыруды үйрететін веб-интерфейс әзірлеу.</a:t>
            </a:r>
            <a:endParaRPr lang="en-US" sz="1700" dirty="0"/>
          </a:p>
        </p:txBody>
      </p:sp>
      <p:sp>
        <p:nvSpPr>
          <p:cNvPr id="12" name="task-num"/>
          <p:cNvSpPr/>
          <p:nvPr/>
        </p:nvSpPr>
        <p:spPr>
          <a:xfrm>
            <a:off x="498348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46304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Талдау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дисграфияның интерфейске қоятын талаптарын анықтау</a:t>
            </a:r>
            <a:endParaRPr lang="en-US" sz="1700" dirty="0"/>
          </a:p>
        </p:txBody>
      </p:sp>
      <p:sp>
        <p:nvSpPr>
          <p:cNvPr id="15" name="task-num"/>
          <p:cNvSpPr/>
          <p:nvPr/>
        </p:nvSpPr>
        <p:spPr>
          <a:xfrm>
            <a:off x="4983480" y="240487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834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35915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Мнемоника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«Кемпірқосақ жолы» — түс, жануар, сұрақ, пішін жүйесін құру</a:t>
            </a:r>
            <a:endParaRPr lang="en-US" sz="1700" dirty="0"/>
          </a:p>
        </p:txBody>
      </p:sp>
      <p:sp>
        <p:nvSpPr>
          <p:cNvPr id="18" name="task-num"/>
          <p:cNvSpPr/>
          <p:nvPr/>
        </p:nvSpPr>
        <p:spPr>
          <a:xfrm>
            <a:off x="4983480" y="330098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255264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Әзірлеу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карточкалық промпт-конструктор, дауыс, қатені түзету модулін жасау</a:t>
            </a:r>
            <a:endParaRPr lang="en-US" sz="1700" dirty="0"/>
          </a:p>
        </p:txBody>
      </p:sp>
      <p:sp>
        <p:nvSpPr>
          <p:cNvPr id="21" name="task-num"/>
          <p:cNvSpPr/>
          <p:nvPr/>
        </p:nvSpPr>
        <p:spPr>
          <a:xfrm>
            <a:off x="4983480" y="419709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151376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Интеграция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ЖИ генераторына қауіпсіз промпт жіберу, офлайн режим</a:t>
            </a:r>
            <a:endParaRPr lang="en-US" sz="1700" dirty="0"/>
          </a:p>
        </p:txBody>
      </p:sp>
      <p:sp>
        <p:nvSpPr>
          <p:cNvPr id="24" name="task-num"/>
          <p:cNvSpPr/>
          <p:nvPr/>
        </p:nvSpPr>
        <p:spPr>
          <a:xfrm>
            <a:off x="4983480" y="509320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8348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04748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Бағалау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тану дәлдігін өлшеу, мұғалімге арналған аналитика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Мнемоника: «Кемпірқосақ жолы»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mnemo-step"/>
          <p:cNvSpPr/>
          <p:nvPr/>
        </p:nvSpPr>
        <p:spPr>
          <a:xfrm>
            <a:off x="621792" y="1463040"/>
            <a:ext cx="2039112" cy="3246120"/>
          </a:xfrm>
          <a:prstGeom prst="roundRect">
            <a:avLst>
              <a:gd name="adj" fmla="val 8072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9202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🦊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8346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КІМ?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918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Қызыл түлкі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7033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кейіпкер · шеңбер</a:t>
            </a:r>
            <a:endParaRPr lang="en-US" sz="1300" dirty="0"/>
          </a:p>
        </p:txBody>
      </p:sp>
      <p:sp>
        <p:nvSpPr>
          <p:cNvPr id="14" name="mnemo-step"/>
          <p:cNvSpPr/>
          <p:nvPr/>
        </p:nvSpPr>
        <p:spPr>
          <a:xfrm>
            <a:off x="2843784" y="1463040"/>
            <a:ext cx="2039112" cy="3246120"/>
          </a:xfrm>
          <a:prstGeom prst="roundRect">
            <a:avLst>
              <a:gd name="adj" fmla="val 8072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26664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843784" y="19202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🐝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2935224" y="28346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ҚАЙДА?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935224" y="32918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Сары ара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37033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орын · үшбұрыш</a:t>
            </a:r>
            <a:endParaRPr lang="en-US" sz="1300" dirty="0"/>
          </a:p>
        </p:txBody>
      </p:sp>
      <p:sp>
        <p:nvSpPr>
          <p:cNvPr id="20" name="mnemo-step"/>
          <p:cNvSpPr/>
          <p:nvPr/>
        </p:nvSpPr>
        <p:spPr>
          <a:xfrm>
            <a:off x="5065776" y="1463040"/>
            <a:ext cx="2039112" cy="3246120"/>
          </a:xfrm>
          <a:prstGeom prst="roundRect">
            <a:avLst>
              <a:gd name="adj" fmla="val 8072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48656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19202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🐸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5157216" y="28346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НЕ ІСТЕЙДІ?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157216" y="32918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Жасыл бақа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157216" y="37033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әрекет · шаршы</a:t>
            </a:r>
            <a:endParaRPr lang="en-US" sz="1300" dirty="0"/>
          </a:p>
        </p:txBody>
      </p:sp>
      <p:sp>
        <p:nvSpPr>
          <p:cNvPr id="26" name="mnemo-step"/>
          <p:cNvSpPr/>
          <p:nvPr/>
        </p:nvSpPr>
        <p:spPr>
          <a:xfrm>
            <a:off x="7287768" y="1463040"/>
            <a:ext cx="2039112" cy="3246120"/>
          </a:xfrm>
          <a:prstGeom prst="roundRect">
            <a:avLst>
              <a:gd name="adj" fmla="val 8072"/>
            </a:avLst>
          </a:prstGeom>
          <a:solidFill>
            <a:schemeClr val="accent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70648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287768" y="19202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🐳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7379208" y="28346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ҚАНДАЙ?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379208" y="32918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Көк кит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79208" y="37033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түс, көңіл-күй · жұлдыз</a:t>
            </a:r>
            <a:endParaRPr lang="en-US" sz="1300" dirty="0"/>
          </a:p>
        </p:txBody>
      </p:sp>
      <p:sp>
        <p:nvSpPr>
          <p:cNvPr id="32" name="mnemo-step"/>
          <p:cNvSpPr/>
          <p:nvPr/>
        </p:nvSpPr>
        <p:spPr>
          <a:xfrm>
            <a:off x="9509760" y="1463040"/>
            <a:ext cx="2039112" cy="3246120"/>
          </a:xfrm>
          <a:prstGeom prst="roundRect">
            <a:avLst>
              <a:gd name="adj" fmla="val 8072"/>
            </a:avLst>
          </a:prstGeom>
          <a:solidFill>
            <a:schemeClr val="accent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5727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19202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🦉</a:t>
            </a:r>
            <a:endParaRPr lang="en-US" sz="48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0" y="28346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ҚАЛАЙ?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601200" y="32918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Күлгін үкі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3703320"/>
            <a:ext cx="1856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сурет стилі · алтыбұрыш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4983480"/>
            <a:ext cx="10927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Төрт арналы есте сақтау: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түс (кемпірқосақ реті) + жануар-кейіпкер + сұрақ сөзі + пішін. Қадамдар реті қазақ сөйлемінің құрылымына сәйкес: </a:t>
            </a:r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Мысық ғарышта ұшады.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Әр кейіпкердің өлеңі бар: «Қызыл түлкі сұрайды: суретте КІМ болады?»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Дисграфияға бейімдеу принциптері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inciple-card"/>
          <p:cNvSpPr/>
          <p:nvPr/>
        </p:nvSpPr>
        <p:spPr>
          <a:xfrm>
            <a:off x="621792" y="1463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principle-icon"/>
          <p:cNvSpPr/>
          <p:nvPr/>
        </p:nvSpPr>
        <p:spPr>
          <a:xfrm>
            <a:off x="896112" y="1737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764792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Жазусыз таңдау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Сөз суретті карточкамен таңдалады — 46 карточка, 5 санат</a:t>
            </a:r>
            <a:endParaRPr lang="en-US" sz="1500" dirty="0"/>
          </a:p>
        </p:txBody>
      </p:sp>
      <p:sp>
        <p:nvSpPr>
          <p:cNvPr id="13" name="principle-card"/>
          <p:cNvSpPr/>
          <p:nvPr/>
        </p:nvSpPr>
        <p:spPr>
          <a:xfrm>
            <a:off x="4352544" y="1463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principle-icon"/>
          <p:cNvSpPr/>
          <p:nvPr/>
        </p:nvSpPr>
        <p:spPr>
          <a:xfrm>
            <a:off x="4626864" y="1737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2A1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6864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95544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Буынға бөлу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мы-сық, ұ-ша-ды — оқуды жеңілдетеді</a:t>
            </a:r>
            <a:endParaRPr lang="en-US" sz="1500" dirty="0"/>
          </a:p>
        </p:txBody>
      </p:sp>
      <p:sp>
        <p:nvSpPr>
          <p:cNvPr id="18" name="principle-card"/>
          <p:cNvSpPr/>
          <p:nvPr/>
        </p:nvSpPr>
        <p:spPr>
          <a:xfrm>
            <a:off x="8083296" y="1463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principle-icon"/>
          <p:cNvSpPr/>
          <p:nvPr/>
        </p:nvSpPr>
        <p:spPr>
          <a:xfrm>
            <a:off x="8357616" y="1737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F9E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57616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Бірінші әріп түсі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Әріптің бейнесін бекітеді, б/д шатасуын азайтады</a:t>
            </a:r>
            <a:endParaRPr lang="en-US" sz="1500" dirty="0"/>
          </a:p>
        </p:txBody>
      </p:sp>
      <p:sp>
        <p:nvSpPr>
          <p:cNvPr id="23" name="principle-card"/>
          <p:cNvSpPr/>
          <p:nvPr/>
        </p:nvSpPr>
        <p:spPr>
          <a:xfrm>
            <a:off x="621792" y="3749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principle-icon"/>
          <p:cNvSpPr/>
          <p:nvPr/>
        </p:nvSpPr>
        <p:spPr>
          <a:xfrm>
            <a:off x="896112" y="4023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2F7F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🔊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1764792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Дауыстап оқу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846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Таңдалған сөз бен бүкіл сөйлем дыбысталады (TTS)</a:t>
            </a:r>
            <a:endParaRPr lang="en-US" sz="1500" dirty="0"/>
          </a:p>
        </p:txBody>
      </p:sp>
      <p:sp>
        <p:nvSpPr>
          <p:cNvPr id="28" name="principle-card"/>
          <p:cNvSpPr/>
          <p:nvPr/>
        </p:nvSpPr>
        <p:spPr>
          <a:xfrm>
            <a:off x="4352544" y="3749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principle-icon"/>
          <p:cNvSpPr/>
          <p:nvPr/>
        </p:nvSpPr>
        <p:spPr>
          <a:xfrm>
            <a:off x="4626864" y="4023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8445C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26864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495544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Дауыспен енгізу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626864" y="4846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Бала сөзді айтады — жүйе карточкаға сәйкестендіреді</a:t>
            </a:r>
            <a:endParaRPr lang="en-US" sz="1500" dirty="0"/>
          </a:p>
        </p:txBody>
      </p:sp>
      <p:sp>
        <p:nvSpPr>
          <p:cNvPr id="33" name="principle-card"/>
          <p:cNvSpPr/>
          <p:nvPr/>
        </p:nvSpPr>
        <p:spPr>
          <a:xfrm>
            <a:off x="8083296" y="3749040"/>
            <a:ext cx="347472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4" name="principle-icon"/>
          <p:cNvSpPr/>
          <p:nvPr/>
        </p:nvSpPr>
        <p:spPr>
          <a:xfrm>
            <a:off x="8357616" y="4023360"/>
            <a:ext cx="685800" cy="685800"/>
          </a:xfrm>
          <a:prstGeom prst="ellipse">
            <a:avLst/>
          </a:prstGeom>
          <a:solidFill>
            <a:schemeClr val="bg1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57616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🩹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9226296" y="4069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Қатені кешіру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357616" y="4846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Қате жазылған сөз танылады: «гарш» → ғарыш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Жүйенің архитектурасы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node-child"/>
          <p:cNvSpPr/>
          <p:nvPr/>
        </p:nvSpPr>
        <p:spPr>
          <a:xfrm>
            <a:off x="621792" y="1554480"/>
            <a:ext cx="210312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8575">
            <a:solidFill>
              <a:srgbClr val="E54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👧 Бала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0848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карточка, дауыс немесе қате жазу</a:t>
            </a:r>
            <a:endParaRPr lang="en-US" sz="1300" dirty="0"/>
          </a:p>
        </p:txBody>
      </p:sp>
      <p:sp>
        <p:nvSpPr>
          <p:cNvPr id="11" name="node-ui"/>
          <p:cNvSpPr/>
          <p:nvPr/>
        </p:nvSpPr>
        <p:spPr>
          <a:xfrm>
            <a:off x="3154680" y="1554480"/>
            <a:ext cx="265176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8575">
            <a:solidFill>
              <a:srgbClr val="F2A1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Мнемоникалық интерфейс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848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кемпірқосақ жолы, буын, TTS, STT</a:t>
            </a:r>
            <a:endParaRPr lang="en-US" sz="1300" dirty="0"/>
          </a:p>
        </p:txBody>
      </p:sp>
      <p:sp>
        <p:nvSpPr>
          <p:cNvPr id="14" name="node-prompt"/>
          <p:cNvSpPr/>
          <p:nvPr/>
        </p:nvSpPr>
        <p:spPr>
          <a:xfrm>
            <a:off x="6236208" y="1554480"/>
            <a:ext cx="265176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8575">
            <a:solidFill>
              <a:srgbClr val="2F9E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Промпт құрастырушы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20848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KZ → EN, қауіпсіз «құйрық», шектеулі сөздік</a:t>
            </a:r>
            <a:endParaRPr lang="en-US" sz="1300" dirty="0"/>
          </a:p>
        </p:txBody>
      </p:sp>
      <p:sp>
        <p:nvSpPr>
          <p:cNvPr id="17" name="node-ai"/>
          <p:cNvSpPr/>
          <p:nvPr/>
        </p:nvSpPr>
        <p:spPr>
          <a:xfrm>
            <a:off x="9326880" y="1554480"/>
            <a:ext cx="224028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28575">
            <a:solidFill>
              <a:srgbClr val="2F7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4040" y="1664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ЖИ генератор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2084832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Pollinations (Flux); қате → 3 қайталау</a:t>
            </a:r>
            <a:endParaRPr lang="en-US" sz="1300" dirty="0"/>
          </a:p>
        </p:txBody>
      </p:sp>
      <p:sp>
        <p:nvSpPr>
          <p:cNvPr id="20" name="flow-arrow"/>
          <p:cNvSpPr/>
          <p:nvPr/>
        </p:nvSpPr>
        <p:spPr>
          <a:xfrm>
            <a:off x="2724912" y="2331720"/>
            <a:ext cx="429768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21" name="flow-arrow"/>
          <p:cNvSpPr/>
          <p:nvPr/>
        </p:nvSpPr>
        <p:spPr>
          <a:xfrm>
            <a:off x="5806440" y="2331720"/>
            <a:ext cx="429768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22" name="flow-arrow"/>
          <p:cNvSpPr/>
          <p:nvPr/>
        </p:nvSpPr>
        <p:spPr>
          <a:xfrm>
            <a:off x="8887968" y="2331720"/>
            <a:ext cx="438912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23" name="node-fuzzy"/>
          <p:cNvSpPr/>
          <p:nvPr/>
        </p:nvSpPr>
        <p:spPr>
          <a:xfrm>
            <a:off x="3154680" y="3794760"/>
            <a:ext cx="265176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8575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Қатені түзету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43251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Дамерау–Левенштейн + айна әріптер</a:t>
            </a:r>
            <a:endParaRPr lang="en-US" sz="1300" dirty="0"/>
          </a:p>
        </p:txBody>
      </p:sp>
      <p:sp>
        <p:nvSpPr>
          <p:cNvPr id="26" name="node-offline"/>
          <p:cNvSpPr/>
          <p:nvPr/>
        </p:nvSpPr>
        <p:spPr>
          <a:xfrm>
            <a:off x="9326880" y="3794760"/>
            <a:ext cx="224028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8575">
            <a:solidFill>
              <a:srgbClr val="6B72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64040" y="39044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Офлайн эскиз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464040" y="432511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желі жоқта эмодзиден сурет</a:t>
            </a:r>
            <a:endParaRPr lang="en-US" sz="1300" dirty="0"/>
          </a:p>
        </p:txBody>
      </p:sp>
      <p:sp>
        <p:nvSpPr>
          <p:cNvPr id="29" name="node-store"/>
          <p:cNvSpPr/>
          <p:nvPr/>
        </p:nvSpPr>
        <p:spPr>
          <a:xfrm>
            <a:off x="6236208" y="3794760"/>
            <a:ext cx="265176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8575">
            <a:solidFill>
              <a:srgbClr val="8445C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73368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Галерея + статистика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373368" y="43251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localStorage: сессия, уақыт, қате</a:t>
            </a:r>
            <a:endParaRPr lang="en-US" sz="1300" dirty="0"/>
          </a:p>
        </p:txBody>
      </p:sp>
      <p:sp>
        <p:nvSpPr>
          <p:cNvPr id="32" name="flow-arrow"/>
          <p:cNvSpPr/>
          <p:nvPr/>
        </p:nvSpPr>
        <p:spPr>
          <a:xfrm>
            <a:off x="4480560" y="3108960"/>
            <a:ext cx="0" cy="68580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33" name="flow-arrow"/>
          <p:cNvSpPr/>
          <p:nvPr/>
        </p:nvSpPr>
        <p:spPr>
          <a:xfrm>
            <a:off x="10442448" y="3108960"/>
            <a:ext cx="0" cy="68580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34" name="flow-arrow"/>
          <p:cNvSpPr/>
          <p:nvPr/>
        </p:nvSpPr>
        <p:spPr>
          <a:xfrm flipH="1">
            <a:off x="8887968" y="4526280"/>
            <a:ext cx="438912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35" name="node-teacher"/>
          <p:cNvSpPr/>
          <p:nvPr/>
        </p:nvSpPr>
        <p:spPr>
          <a:xfrm>
            <a:off x="621792" y="3794760"/>
            <a:ext cx="2103120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28575">
            <a:solidFill>
              <a:srgbClr val="8445C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8952" y="3904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👩‍🏫 Мұғалім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" y="43251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графиктер, баптаулар</a:t>
            </a:r>
            <a:endParaRPr lang="en-US" sz="1300" dirty="0"/>
          </a:p>
        </p:txBody>
      </p:sp>
      <p:sp>
        <p:nvSpPr>
          <p:cNvPr id="38" name="flow-arrow"/>
          <p:cNvSpPr/>
          <p:nvPr/>
        </p:nvSpPr>
        <p:spPr>
          <a:xfrm flipH="1">
            <a:off x="5806440" y="4526280"/>
            <a:ext cx="429768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solid"/>
            <a:tailEnd type="triangle"/>
          </a:ln>
        </p:spPr>
      </p:sp>
      <p:sp>
        <p:nvSpPr>
          <p:cNvPr id="39" name="flow-arrow"/>
          <p:cNvSpPr/>
          <p:nvPr/>
        </p:nvSpPr>
        <p:spPr>
          <a:xfrm flipH="1">
            <a:off x="2724912" y="4983480"/>
            <a:ext cx="429768" cy="0"/>
          </a:xfrm>
          <a:prstGeom prst="line">
            <a:avLst/>
          </a:prstGeom>
          <a:noFill/>
          <a:ln w="25400">
            <a:solidFill>
              <a:srgbClr val="9AA0B5"/>
            </a:solidFill>
            <a:prstDash val="dash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21792" y="557784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7"/>
                </a:solidFill>
              </a:rPr>
              <a:t>Қауіпсіздік: бала тек дайын сөздіктен таңдайды, сондықтан генераторға еркін мәтін жіберілмейді — қолайсыз контент тәуекелі төмен.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Басты бет: есте сақтау тірегі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7644384" cy="4832604"/>
          </a:xfrm>
          <a:prstGeom prst="roundRect">
            <a:avLst>
              <a:gd name="adj" fmla="val 2271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7498080" cy="46863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77072" y="1417320"/>
            <a:ext cx="3063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Бес қадам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бір экранда — түс, жануар, сұрақ және нөмір бірге көрінеді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Өлең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әр кейіпкердің сұрағын ырғақпен есте сақтатады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Екі жол: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«Үйрену» (қадамдық) және «Бірден салу» (еркін)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Үйрену режимі: қадам-қадаммен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7644384" cy="4832604"/>
          </a:xfrm>
          <a:prstGeom prst="roundRect">
            <a:avLst>
              <a:gd name="adj" fmla="val 2271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7498080" cy="46863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77072" y="1417320"/>
            <a:ext cx="3063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Кейіпкер-жетекші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сұрақты дауыстап айтады 🔊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Келесі қадамдар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бұлдыр — бала ретті бұзбайды, тізбек бекиді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Карточкалар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буынға бөлінген, бірінші әріп түспен белгіленген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Мотивация: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әр қадамға ⭐, әр суретке ⭐⭐⭐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Сурет жасау: 6 басу → ЖИ суреті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7585862" cy="5312664"/>
          </a:xfrm>
          <a:prstGeom prst="roundRect">
            <a:avLst>
              <a:gd name="adj" fmla="val 2065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7439558" cy="51663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18550" y="1417320"/>
            <a:ext cx="312176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Сөйлем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түрлі түсті бөліктерден өзі құралады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ЖИ-ге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ағылшынша промпт автоматты жасалады: «a cute cat flying in outer space, rainbow colors, cartoon style…»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Нәтиже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10–30 секундта, нақты генератор (Pollinations, Flux)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Қатені кешіретін енгізу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7644384" cy="4832604"/>
          </a:xfrm>
          <a:prstGeom prst="roundRect">
            <a:avLst>
              <a:gd name="adj" fmla="val 2271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ty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7498080" cy="46863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77072" y="1417320"/>
            <a:ext cx="3063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«гарш» → ғарыш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бала қате жазса да, жүйе дұрыс карточканы ұсынады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Алгоритм: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Дамерау–Левенштейн қашықтығы, айна әріптер (б↔д) мен орын ауыстыруға жартылай айыппұл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Қазақ әріптері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орысша баламаға теңестіріледі: қ=к, ғ=г, ұ=у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Дауыс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🎤 арқылы айтылған сөз де осылай танылады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Галерея: баланың шығармашылығы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6615485" cy="5312664"/>
          </a:xfrm>
          <a:prstGeom prst="roundRect">
            <a:avLst>
              <a:gd name="adj" fmla="val 2065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6469181" cy="51663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48173" y="1417320"/>
            <a:ext cx="4092139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Әр сурет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өзінің түрлі түсті «рецептімен» сақталады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Түстер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мнемоникамен бірдей — бала суреттің қалай жасалғанын «оқиды»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Мысалдар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жүйе арқылы нақты генерацияланған 8 сурет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Мұғалім / ата-ана панелі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548640" y="1298448"/>
            <a:ext cx="6097951" cy="5312664"/>
          </a:xfrm>
          <a:prstGeom prst="roundRect">
            <a:avLst>
              <a:gd name="adj" fmla="val 2065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5951647" cy="51663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30639" y="1417320"/>
            <a:ext cx="4609673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Көрсеткіштер: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сурет саны, құрау уақыты, түзетілген сөздер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Графиктер: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күндік белсенділік, уақыт динамикасы, енгізу тәсілдері, сүйікті сөздер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Баптаулар: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буын, әріп түсі, үлкен қаріп, оқу жылдамдығы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Ескерту: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скриншотта демо-деректер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Тұрақтылық: желі болмаса да жұмыс істейді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hot-frame"/>
          <p:cNvSpPr/>
          <p:nvPr/>
        </p:nvSpPr>
        <p:spPr>
          <a:xfrm>
            <a:off x="749808" y="1344168"/>
            <a:ext cx="2485058" cy="4489704"/>
          </a:xfrm>
          <a:prstGeom prst="roundRect">
            <a:avLst>
              <a:gd name="adj" fmla="val 4416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9" name="screenshot" descr="C:\Users\Meiram\Documents\проекты\mnemo-ai\presentation\shots\result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338754" cy="4343400"/>
          </a:xfrm>
          <a:prstGeom prst="rect">
            <a:avLst/>
          </a:prstGeom>
        </p:spPr>
      </p:pic>
      <p:sp>
        <p:nvSpPr>
          <p:cNvPr id="10" name="shot-frame"/>
          <p:cNvSpPr/>
          <p:nvPr/>
        </p:nvSpPr>
        <p:spPr>
          <a:xfrm>
            <a:off x="3637202" y="1344168"/>
            <a:ext cx="2485058" cy="4489704"/>
          </a:xfrm>
          <a:prstGeom prst="roundRect">
            <a:avLst>
              <a:gd name="adj" fmla="val 4416"/>
            </a:avLst>
          </a:prstGeom>
          <a:solidFill>
            <a:schemeClr val="bg2"/>
          </a:solidFill>
          <a:ln w="12700">
            <a:solidFill>
              <a:srgbClr val="E1E4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2140">
                <a:alpha val="12000"/>
              </a:srgbClr>
            </a:outerShdw>
          </a:effectLst>
        </p:spPr>
      </p:sp>
      <p:pic>
        <p:nvPicPr>
          <p:cNvPr id="11" name="screenshot" descr="C:\Users\Meiram\Documents\проекты\mnemo-ai\presentation\shots\offline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54" y="1417320"/>
            <a:ext cx="2338754" cy="4343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5852160"/>
            <a:ext cx="2338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Онлайн: ЖИ суреті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710354" y="5852160"/>
            <a:ext cx="23387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7"/>
                </a:solidFill>
              </a:rPr>
              <a:t>Офлайн: эмодзи-эскиз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146304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Тегін генератордың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сұраныс лимиті бар — жүйе 12 секунд сайын 3 рет қайталайды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Сәтсіз болса,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таңдалған карточкалардан жергілікті эскиз салынады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Бала ешқашан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қате хабарламасын көрмейді — сабақ үзілмейді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Нәтиже: қате жазылған сөзді тану дәлдігі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325880"/>
          <a:ext cx="7589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595360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97%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бір қатесі бар сөз бірінші ұсыныста дұрыс танылады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337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65%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екі қате бірге — әлсіз тұс, келесі нұсқада жақсарту керек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7"/>
                </a:solidFill>
              </a:rPr>
              <a:t>Тест: сөздіктің 43 сөзіне дисграфияға тән қателер автоматты енгізілді (tests/fuzzy_eval.js)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Нәтиже: бір суретке қажетті әрекет саны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32588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7223760" y="132588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223760" y="5349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13 есе аз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әрекет: бала бір әріп те жазбай сурет алады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Қолданылған технологиялар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ch-card"/>
          <p:cNvSpPr/>
          <p:nvPr/>
        </p:nvSpPr>
        <p:spPr>
          <a:xfrm>
            <a:off x="621792" y="146304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9" name="tech-dot"/>
          <p:cNvSpPr/>
          <p:nvPr/>
        </p:nvSpPr>
        <p:spPr>
          <a:xfrm>
            <a:off x="896112" y="1874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36192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HTML5 · CSS3 · JavaScript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орнатусыз, кез келген браузерде, планшетте де</a:t>
            </a:r>
            <a:endParaRPr lang="en-US" sz="1500" dirty="0"/>
          </a:p>
        </p:txBody>
      </p:sp>
      <p:sp>
        <p:nvSpPr>
          <p:cNvPr id="12" name="tech-card"/>
          <p:cNvSpPr/>
          <p:nvPr/>
        </p:nvSpPr>
        <p:spPr>
          <a:xfrm>
            <a:off x="6153912" y="146304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13" name="tech-dot"/>
          <p:cNvSpPr/>
          <p:nvPr/>
        </p:nvSpPr>
        <p:spPr>
          <a:xfrm>
            <a:off x="6428232" y="18745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68312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Web Speech API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дыбыстау (TTS) және сөзді тану (STT, kk-KZ)</a:t>
            </a:r>
            <a:endParaRPr lang="en-US" sz="1500" dirty="0"/>
          </a:p>
        </p:txBody>
      </p:sp>
      <p:sp>
        <p:nvSpPr>
          <p:cNvPr id="16" name="tech-card"/>
          <p:cNvSpPr/>
          <p:nvPr/>
        </p:nvSpPr>
        <p:spPr>
          <a:xfrm>
            <a:off x="621792" y="292608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17" name="tech-dot"/>
          <p:cNvSpPr/>
          <p:nvPr/>
        </p:nvSpPr>
        <p:spPr>
          <a:xfrm>
            <a:off x="896112" y="33375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36192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Pollinations.ai (Flux)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тегін, кілтсіз ЖИ сурет генераторы</a:t>
            </a:r>
            <a:endParaRPr lang="en-US" sz="1500" dirty="0"/>
          </a:p>
        </p:txBody>
      </p:sp>
      <p:sp>
        <p:nvSpPr>
          <p:cNvPr id="20" name="tech-card"/>
          <p:cNvSpPr/>
          <p:nvPr/>
        </p:nvSpPr>
        <p:spPr>
          <a:xfrm>
            <a:off x="6153912" y="292608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21" name="tech-dot"/>
          <p:cNvSpPr/>
          <p:nvPr/>
        </p:nvSpPr>
        <p:spPr>
          <a:xfrm>
            <a:off x="6428232" y="33375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68312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Chart.js 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мұғалім панеліндегі графиктер</a:t>
            </a:r>
            <a:endParaRPr lang="en-US" sz="1500" dirty="0"/>
          </a:p>
        </p:txBody>
      </p:sp>
      <p:sp>
        <p:nvSpPr>
          <p:cNvPr id="24" name="tech-card"/>
          <p:cNvSpPr/>
          <p:nvPr/>
        </p:nvSpPr>
        <p:spPr>
          <a:xfrm>
            <a:off x="621792" y="438912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25" name="tech-dot"/>
          <p:cNvSpPr/>
          <p:nvPr/>
        </p:nvSpPr>
        <p:spPr>
          <a:xfrm>
            <a:off x="896112" y="48006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536192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localStorage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галерея, статистика, баптаулар құрылғыда сақталады</a:t>
            </a:r>
            <a:endParaRPr lang="en-US" sz="1500" dirty="0"/>
          </a:p>
        </p:txBody>
      </p:sp>
      <p:sp>
        <p:nvSpPr>
          <p:cNvPr id="28" name="tech-card"/>
          <p:cNvSpPr/>
          <p:nvPr/>
        </p:nvSpPr>
        <p:spPr>
          <a:xfrm>
            <a:off x="6153912" y="4389120"/>
            <a:ext cx="5257800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29" name="tech-dot"/>
          <p:cNvSpPr/>
          <p:nvPr/>
        </p:nvSpPr>
        <p:spPr>
          <a:xfrm>
            <a:off x="6428232" y="4800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068312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Дамерау–Левенштейн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дисграфияға бейімделген анық емес іздеу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7"/>
                </a:solidFill>
              </a:rPr>
              <a:t>Бағдарлама көлемі: ~700 жол код · сервер қажет емес · интернетсіз де жұмыс істейді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Қорытынды және келесі қадамдар</a:t>
            </a:r>
            <a:endParaRPr lang="en-US" sz="3200" dirty="0"/>
          </a:p>
        </p:txBody>
      </p:sp>
      <p:sp>
        <p:nvSpPr>
          <p:cNvPr id="3" name="rainbow-dot-1"/>
          <p:cNvSpPr/>
          <p:nvPr/>
        </p:nvSpPr>
        <p:spPr>
          <a:xfrm>
            <a:off x="10744200" y="62179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rainbow-dot-2"/>
          <p:cNvSpPr/>
          <p:nvPr/>
        </p:nvSpPr>
        <p:spPr>
          <a:xfrm>
            <a:off x="10981944" y="62179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ainbow-dot-3"/>
          <p:cNvSpPr/>
          <p:nvPr/>
        </p:nvSpPr>
        <p:spPr>
          <a:xfrm>
            <a:off x="11219688" y="621792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rainbow-dot-4"/>
          <p:cNvSpPr/>
          <p:nvPr/>
        </p:nvSpPr>
        <p:spPr>
          <a:xfrm>
            <a:off x="11457432" y="621792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rainbow-dot-5"/>
          <p:cNvSpPr/>
          <p:nvPr/>
        </p:nvSpPr>
        <p:spPr>
          <a:xfrm>
            <a:off x="11695176" y="621792"/>
            <a:ext cx="155448" cy="1554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Не жасалды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659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«Кемпірқосақ жолы» мнемоникалық жүйесі (5 қадам × түс × жануар × сұрақ)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Жазусыз промпт-конструктор: 46 карточка, буын, дыбыстау, дауыс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Қатені кешіретін іздеу: бір қатеде 97% дәлдік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ЖИ генераторымен интеграция және офлайн режим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Мұғалімге арналған аналитика панелі</a:t>
            </a:r>
            <a:endParaRPr lang="en-US" sz="1600" dirty="0"/>
          </a:p>
        </p:txBody>
      </p:sp>
      <p:sp>
        <p:nvSpPr>
          <p:cNvPr id="10" name="next-card"/>
          <p:cNvSpPr/>
          <p:nvPr/>
        </p:nvSpPr>
        <p:spPr>
          <a:xfrm>
            <a:off x="6355080" y="1417320"/>
            <a:ext cx="5212080" cy="4572000"/>
          </a:xfrm>
          <a:prstGeom prst="roundRect">
            <a:avLst>
              <a:gd name="adj" fmla="val 36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Келесі қадамдар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19456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Логопед-мұғаліммен пилоттық тестілеу (бақылау және тәжірибе топтары)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Екі қатені тануды жақсарту (сөздік контекст)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Қазақ тіліндегі сапалы TTS дауысын қосу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Карточкаларды мұғалім өзі қоса алатын редактор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nbow-dot-1"/>
          <p:cNvSpPr/>
          <p:nvPr/>
        </p:nvSpPr>
        <p:spPr>
          <a:xfrm>
            <a:off x="640080" y="114300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rainbow-dot-2"/>
          <p:cNvSpPr/>
          <p:nvPr/>
        </p:nvSpPr>
        <p:spPr>
          <a:xfrm>
            <a:off x="960120" y="1143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rainbow-dot-3"/>
          <p:cNvSpPr/>
          <p:nvPr/>
        </p:nvSpPr>
        <p:spPr>
          <a:xfrm>
            <a:off x="1280160" y="114300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rainbow-dot-4"/>
          <p:cNvSpPr/>
          <p:nvPr/>
        </p:nvSpPr>
        <p:spPr>
          <a:xfrm>
            <a:off x="1600200" y="1143000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rainbow-dot-5"/>
          <p:cNvSpPr/>
          <p:nvPr/>
        </p:nvSpPr>
        <p:spPr>
          <a:xfrm>
            <a:off x="1920240" y="1143000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Назарларыңызға рақмет!</a:t>
            </a:r>
            <a:endParaRPr lang="en-US" sz="3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64008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E6"/>
                </a:solidFill>
              </a:rPr>
              <a:t>Сұрақтарыңызды күтемін  ·  Демо: app/index.html</a:t>
            </a:r>
            <a:endParaRPr lang="en-US" sz="1800" dirty="0"/>
          </a:p>
        </p:txBody>
      </p:sp>
      <p:pic>
        <p:nvPicPr>
          <p:cNvPr id="9" name="thanks-img-1" descr="C:\Users\Meiram\Documents\проекты\mnemo-ai\app\demo\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143000"/>
            <a:ext cx="1600200" cy="1600200"/>
          </a:xfrm>
          <a:prstGeom prst="rect">
            <a:avLst/>
          </a:prstGeom>
        </p:spPr>
      </p:pic>
      <p:pic>
        <p:nvPicPr>
          <p:cNvPr id="10" name="thanks-img-2" descr="C:\Users\Meiram\Documents\проекты\mnemo-ai\app\demo\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143000"/>
            <a:ext cx="1600200" cy="1600200"/>
          </a:xfrm>
          <a:prstGeom prst="rect">
            <a:avLst/>
          </a:prstGeom>
        </p:spPr>
      </p:pic>
      <p:pic>
        <p:nvPicPr>
          <p:cNvPr id="11" name="thanks-img-3" descr="C:\Users\Meiram\Documents\проекты\mnemo-ai\app\demo\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880360"/>
            <a:ext cx="1600200" cy="1600200"/>
          </a:xfrm>
          <a:prstGeom prst="rect">
            <a:avLst/>
          </a:prstGeom>
        </p:spPr>
      </p:pic>
      <p:pic>
        <p:nvPicPr>
          <p:cNvPr id="12" name="thanks-img-4" descr="C:\Users\Meiram\Documents\проекты\mnemo-ai\app\demo\8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88036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nemoSuret">
  <a:themeElements>
    <a:clrScheme name="MnemoSuret">
      <a:dk1>
        <a:srgbClr val="1F2433"/>
      </a:dk1>
      <a:lt1>
        <a:srgbClr val="FFFFFF"/>
      </a:lt1>
      <a:dk2>
        <a:srgbClr val="1E2140"/>
      </a:dk2>
      <a:lt2>
        <a:srgbClr val="F3F4FA"/>
      </a:lt2>
      <a:accent1>
        <a:srgbClr val="E5484D"/>
      </a:accent1>
      <a:accent2>
        <a:srgbClr val="F2A10C"/>
      </a:accent2>
      <a:accent3>
        <a:srgbClr val="2F9E5B"/>
      </a:accent3>
      <a:accent4>
        <a:srgbClr val="2F7FD8"/>
      </a:accent4>
      <a:accent5>
        <a:srgbClr val="8445C2"/>
      </a:accent5>
      <a:accent6>
        <a:srgbClr val="6B7287"/>
      </a:accent6>
      <a:hlink>
        <a:srgbClr val="2F7FD8"/>
      </a:hlink>
      <a:folHlink>
        <a:srgbClr val="8445C2"/>
      </a:folHlink>
    </a:clrScheme>
    <a:fontScheme name="MnemoSure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МнемоСурет</dc:title>
  <dc:subject>PptxGenJS Presentation</dc:subject>
  <dc:creator>МнемоСурет</dc:creator>
  <cp:lastModifiedBy>МнемоСурет</cp:lastModifiedBy>
  <cp:revision>1</cp:revision>
  <dcterms:created xsi:type="dcterms:W3CDTF">2026-10-14T12:00:52Z</dcterms:created>
  <dcterms:modified xsi:type="dcterms:W3CDTF">2026-10-14T12:00:52Z</dcterms:modified>
</cp:coreProperties>
</file>