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15c06e62-cdbf-dad7-d0e8-85eb9e129d5c}">
          <p14:sldIdLst>
            <p14:sldId id="256"/>
            <p14:sldId id="257"/>
            <p14:sldId id="258"/>
            <p14:sldId id="259"/>
            <p14:sldId id="260"/>
          </p14:sldIdLst>
        </p14:section>
        <p14:section name="Әдістеме" id="{4fc29664-ebdb-0ee3-ddc6-dd8f3bd7d62f}">
          <p14:sldIdLst>
            <p14:sldId id="261"/>
            <p14:sldId id="262"/>
            <p14:sldId id="263"/>
          </p14:sldIdLst>
        </p14:section>
        <p14:section name="Іске асыру" id="{7585d233-6469-a0c7-d733-080509f33454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Нәтижелер" id="{3504657a-1117-ceb6-8711-8444b6cca281}">
          <p14:sldIdLst>
            <p14:sldId id="270"/>
            <p14:sldId id="271"/>
          </p14:sldIdLst>
        </p14:section>
        <p14:section name="Қорытынды" id="{805d27ad-7019-a340-c171-df431d79cdc7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(бірінші ұсыныс)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93</c:v>
                </c:pt>
                <c:pt idx="2">
                  <c:v>100</c:v>
                </c:pt>
                <c:pt idx="3">
                  <c:v>100</c:v>
                </c:pt>
                <c:pt idx="4">
                  <c:v>98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Top-3 (алғашқы үш ұсыныс)</c:v>
                </c:pt>
              </c:strCache>
            </c:strRef>
          </c:tx>
          <c:spPr>
            <a:solidFill>
              <a:srgbClr val="9FB4C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433"/>
                </a:solidFill>
                <a:latin typeface="+mn-lt"/>
              </a:rPr>
              <a:t>Бір суретке қажетті әрекет саны (8 мысалдың орташасы)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Әрекет саны</c:v>
                </c:pt>
              </c:strCache>
            </c:strRef>
          </c:tx>
          <c:spPr>
            <a:solidFill>
              <a:srgbClr val="9FB4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4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4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Ағылшынша промпт (пернелер)</c:v>
                  </c:pt>
                  <c:pt idx="1">
                    <c:v>Қазақша сипаттама (пернелер)</c:v>
                  </c:pt>
                  <c:pt idx="2">
                    <c:v>МнемоСурет (басулар)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36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Құрметті комиссия мүшелері! Назарларыңызға дипломдық жұмысымды ұсынамын. Тақырыбы: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Өзектілік: ЖИ генераторлары кең таралды, бірақ олардың интерфейсі — мәтін. Дисграфиясы бар бала үшін бұл негізгі кедергі. 7–15% — Döhla &amp; Heim (Frontiers in Psychology, 2016) шолуы.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Объект, пән, мақсат және гипотезаны оқып шығу.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Алты міндет; әрқайсысының нәтижесі келесі слайдтарда көрсетіледі.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Жаңалықтың үш тармағы және практикалық қолданылуы.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Жұмыс бес кезеңнен тұрды.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Модельдің негізі — бала білетін кемпірқосақ тізбегі. Бала промптты жазбайды, сұрақтарға жауап береді.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 шешім дисграфияның нақты көрінісіне сәйкес таңдалды.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 ағымы жоғарғы қатарда, көмекші модульдер төменгі қатарда.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Классикалық Дамерау–Левенштейн қашықтығы дисграфияға тән қателерге жартылай айыппұлмен бейімделді.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Үйрену режимінде бала мнемоникалық тізбекті қадам-қадаммен меңгереді.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нақты жұмыстан алынған, сурет генератордан келген.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Қатені тану модулінің интерфейстегі көрінісі.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Скриншотта демонстрациялық деректер көрсетілген.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скрипті tests/fuzzy_eval.js. Бір қатеде Top-1 дәлдік 97%, екі қатеде 65% — бұл жұмыстың шектеуі ретінде көрсетіледі.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Әрекет саны — интерфейс күрделілігінің объективті көрсеткіші.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Міндеттер бойынша нәтижелер және даму перспективалары. Педагогикалық эксперимент — келесі кезең.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Демонстрация: app/index.html — үйрену режимінде бір суретті салып көрсету.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3CAD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8"/>
                </a:solidFill>
              </a:rPr>
              <a:t>Дисграфиясы бар балаларға арналған мнемоникалық интерфейс · Дипломдық жұмыс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[Университет атауы]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AD8"/>
                </a:solidFill>
              </a:rPr>
              <a:t>[Факультет]  ·  [Кафедра]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4CF"/>
                </a:solidFill>
              </a:rPr>
              <a:t>ДИПЛОМДЫҚ ЖҰМЫС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Дисграфиясы бар балаларға ЖИ графикалық генераторларын қолдануды үйретуге арналған мнемоникалық интерфейсті бағдарламалық әзірлеу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CAD8"/>
                </a:solidFill>
              </a:rPr>
              <a:t>Мамандығы: [шифр және атауы]</a:t>
            </a:r>
            <a:endParaRPr lang="en-US" sz="1800" dirty="0"/>
          </a:p>
        </p:txBody>
      </p:sp>
      <p:sp>
        <p:nvSpPr>
          <p:cNvPr id="7" name="divider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4552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F"/>
                </a:solidFill>
              </a:rPr>
              <a:t>Орындаған: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[аты-жөні], [топ]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F"/>
                </a:solidFill>
              </a:rPr>
              <a:t>Ғылыми жетекші: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[ғылыми дәрежесі, аты-жөні]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3CAD8"/>
                </a:solidFill>
              </a:rPr>
              <a:t>[Қала],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Зерттеудің өзектілігі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Генеративті ЖИ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білім беруге енуде: Midjourney, DALL·E, Stable Diffusion балалардың шығармашылығы мен көрнекі ойлауын дамытуға мүмкіндік береді.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Кіру кедергісі —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мәтіндік сұраныс (промпт). Генератормен жұмыс жазу дағдысын және көбіне ағылшын тілін талап етеді.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Дисграфиясы бар балалар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әріптерді шатастырады, түсіріп кетеді, орнын ауыстырады — сондықтан мұндай құралдардан іс жүзінде тыс қалады.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Қазақ тіліндегі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ерекше білім беру қажеттілігі бар балаларға бейімделген ЖИ интерфейстері жеткіліксіз зерттелген.</a:t>
            </a:r>
            <a:endParaRPr lang="en-US" sz="1600" dirty="0"/>
          </a:p>
        </p:txBody>
      </p:sp>
      <p:sp>
        <p:nvSpPr>
          <p:cNvPr id="4" name="stat-panel"/>
          <p:cNvSpPr/>
          <p:nvPr/>
        </p:nvSpPr>
        <p:spPr>
          <a:xfrm>
            <a:off x="7818120" y="14173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0" y="1527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7–15%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оқушыларда дамудың дисграфиясы кездеседі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(Döhla &amp; Heim, 2016)</a:t>
            </a:r>
            <a:endParaRPr lang="en-US" sz="1000" dirty="0"/>
          </a:p>
        </p:txBody>
      </p:sp>
      <p:sp>
        <p:nvSpPr>
          <p:cNvPr id="8" name="stat-panel"/>
          <p:cNvSpPr/>
          <p:nvPr/>
        </p:nvSpPr>
        <p:spPr>
          <a:xfrm>
            <a:off x="7818120" y="30175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0" y="3127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таңба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730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бір суретке арналған ағылшынша промпттың орташа ұзындығы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(автордың есебі, n = 8)</a:t>
            </a:r>
            <a:endParaRPr lang="en-US" sz="1000" dirty="0"/>
          </a:p>
        </p:txBody>
      </p:sp>
      <p:sp>
        <p:nvSpPr>
          <p:cNvPr id="12" name="stat-panel"/>
          <p:cNvSpPr/>
          <p:nvPr/>
        </p:nvSpPr>
        <p:spPr>
          <a:xfrm>
            <a:off x="7818120" y="46177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47274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таңба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330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сол сипаттаманың қазақша нұсқасы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5696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(автордың есебі, n = 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объектісі, пәні және мақсаты</a:t>
            </a:r>
            <a:endParaRPr lang="en-US" sz="2800" dirty="0"/>
          </a:p>
        </p:txBody>
      </p:sp>
      <p:sp>
        <p:nvSpPr>
          <p:cNvPr id="3" name="def-row"/>
          <p:cNvSpPr/>
          <p:nvPr/>
        </p:nvSpPr>
        <p:spPr>
          <a:xfrm>
            <a:off x="594360" y="141732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Объектісі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1732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Дисграфиясы бар бастауыш сынып оқушыларының генеративті ЖИ құралдарымен өзара әрекеттесу үдерісі.</a:t>
            </a:r>
            <a:endParaRPr lang="en-US" sz="1600" dirty="0"/>
          </a:p>
        </p:txBody>
      </p:sp>
      <p:sp>
        <p:nvSpPr>
          <p:cNvPr id="6" name="def-row"/>
          <p:cNvSpPr/>
          <p:nvPr/>
        </p:nvSpPr>
        <p:spPr>
          <a:xfrm>
            <a:off x="594360" y="260604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Пәні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60604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ЖИ графикалық генераторына сұраныс құруды жазусыз жүзеге асыратын мнемоникалық пайдаланушы интерфейсі.</a:t>
            </a:r>
            <a:endParaRPr lang="en-US" sz="1600" dirty="0"/>
          </a:p>
        </p:txBody>
      </p:sp>
      <p:sp>
        <p:nvSpPr>
          <p:cNvPr id="9" name="def-row"/>
          <p:cNvSpPr/>
          <p:nvPr/>
        </p:nvSpPr>
        <p:spPr>
          <a:xfrm>
            <a:off x="594360" y="379476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9476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Мақсаты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79476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Дисграфиясы бар балаларға мнемоникалық тірек арқылы ЖИ генераторын қолдануды үйрететін веб-қосымшаны әзірлеу және оның тиімділігін бағалау.</a:t>
            </a:r>
            <a:endParaRPr lang="en-US" sz="1600" dirty="0"/>
          </a:p>
        </p:txBody>
      </p:sp>
      <p:sp>
        <p:nvSpPr>
          <p:cNvPr id="12" name="def-row"/>
          <p:cNvSpPr/>
          <p:nvPr/>
        </p:nvSpPr>
        <p:spPr>
          <a:xfrm>
            <a:off x="594360" y="498348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98348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98348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Мәтіндік енгізуді мнемоникалық карточкалармен және қатеге төзімді іздеумен алмастыру промпт құрудың күрделілігін төмендетеді және баланың генераторды өз бетінше қолдануына мүмкіндік береді.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міндеттері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5087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Дисграфияның клиникалық-педагогикалық сипаттамасын және оның цифрлық интерфейске қоятын талаптарын талдау.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5087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Генеративті ЖИ құралдарының қолжетімділігін және промпт құру тәсілдерін салыстырмалы талдау.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0632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«Кемпірқосақ жолы» мнемоникалық моделін әзірлеу: промпттың бес семантикалық компоненті.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0632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Дисграфияға тән қателерге төзімді сөз тану алгоритмін құру.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Веб-қосымшаны жобалау және іске асыру: интерфейс, ЖИ интеграциясы, мұғалім панелі.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Жүйенің тиімділігін эксперименттік бағалау.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Ғылыми жаңалығы және практикалық маңыздылығы</a:t>
            </a:r>
            <a:endParaRPr lang="en-US" sz="2800" dirty="0"/>
          </a:p>
        </p:txBody>
      </p:sp>
      <p:sp>
        <p:nvSpPr>
          <p:cNvPr id="3" name="novelty"/>
          <p:cNvSpPr/>
          <p:nvPr/>
        </p:nvSpPr>
        <p:spPr>
          <a:xfrm>
            <a:off x="594360" y="1417320"/>
            <a:ext cx="5394960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practice"/>
          <p:cNvSpPr/>
          <p:nvPr/>
        </p:nvSpPr>
        <p:spPr>
          <a:xfrm>
            <a:off x="6217920" y="1417320"/>
            <a:ext cx="5394960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ҒЫЛЫМИ ЖАҢАЛЫҒЫ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Промпттың семантикалық құрылымын (кім – қайда – не істейді – қандай – қалай) түс, кейіпкер және сұрақ арқылы кодтайтын мнемоникалық модель ұсынылды.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Дисграфияға тән қателерге (айна әріптер, орын ауыстыру, қазақ әріптерін алмастыру) салмақталған Дамерау–Левенштейн метрикасы бейімделді.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Шектеулі сөздік арқылы балаларға қауіпсіз промпт генерациялау тәсілі негізделді.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ПРАКТИКАЛЫҚ МАҢЫЗДЫЛЫҒЫ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Қосымшаны мұғалім-логопедтер, инклюзивті сыныптар мен ата-аналар орнатусыз пайдалана алады.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Мұғалім панелі баланың прогресін бақылауға және интерфейсті жеке бейімдеуге мүмкіндік береді.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Шешім қазақ тілінде жасалған және басқа тілдерге сөздікті ауыстыру арқылы кеңейтіледі.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әдістері және әзірлеу кезеңдері</a:t>
            </a:r>
            <a:endParaRPr lang="en-US" sz="2800" dirty="0"/>
          </a:p>
        </p:txBody>
      </p:sp>
      <p:sp>
        <p:nvSpPr>
          <p:cNvPr id="3" name="stage-head"/>
          <p:cNvSpPr/>
          <p:nvPr/>
        </p:nvSpPr>
        <p:spPr>
          <a:xfrm>
            <a:off x="59436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Талдау</a:t>
            </a:r>
            <a:endParaRPr lang="en-US" sz="1700" dirty="0"/>
          </a:p>
        </p:txBody>
      </p:sp>
      <p:sp>
        <p:nvSpPr>
          <p:cNvPr id="5" name="stage-body"/>
          <p:cNvSpPr/>
          <p:nvPr/>
        </p:nvSpPr>
        <p:spPr>
          <a:xfrm>
            <a:off x="59436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әдебиеттерді, дисграфия типологиясын және ЖИ құралдарын талдау</a:t>
            </a:r>
            <a:endParaRPr lang="en-US" sz="1400" dirty="0"/>
          </a:p>
        </p:txBody>
      </p:sp>
      <p:sp>
        <p:nvSpPr>
          <p:cNvPr id="7" name="stage-arrow"/>
          <p:cNvSpPr/>
          <p:nvPr/>
        </p:nvSpPr>
        <p:spPr>
          <a:xfrm>
            <a:off x="263347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8" name="stage-head"/>
          <p:cNvSpPr/>
          <p:nvPr/>
        </p:nvSpPr>
        <p:spPr>
          <a:xfrm>
            <a:off x="283464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Модельдеу</a:t>
            </a:r>
            <a:endParaRPr lang="en-US" sz="1700" dirty="0"/>
          </a:p>
        </p:txBody>
      </p:sp>
      <p:sp>
        <p:nvSpPr>
          <p:cNvPr id="10" name="stage-body"/>
          <p:cNvSpPr/>
          <p:nvPr/>
        </p:nvSpPr>
        <p:spPr>
          <a:xfrm>
            <a:off x="283464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мнемоникалық модель мен промпт құрылымын жобалау</a:t>
            </a:r>
            <a:endParaRPr lang="en-US" sz="1400" dirty="0"/>
          </a:p>
        </p:txBody>
      </p:sp>
      <p:sp>
        <p:nvSpPr>
          <p:cNvPr id="12" name="stage-arrow"/>
          <p:cNvSpPr/>
          <p:nvPr/>
        </p:nvSpPr>
        <p:spPr>
          <a:xfrm>
            <a:off x="487375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13" name="stage-head"/>
          <p:cNvSpPr/>
          <p:nvPr/>
        </p:nvSpPr>
        <p:spPr>
          <a:xfrm>
            <a:off x="507492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Алгоритм</a:t>
            </a:r>
            <a:endParaRPr lang="en-US" sz="1700" dirty="0"/>
          </a:p>
        </p:txBody>
      </p:sp>
      <p:sp>
        <p:nvSpPr>
          <p:cNvPr id="15" name="stage-body"/>
          <p:cNvSpPr/>
          <p:nvPr/>
        </p:nvSpPr>
        <p:spPr>
          <a:xfrm>
            <a:off x="507492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қатеге төзімді тану алгоритмін әзірлеу</a:t>
            </a:r>
            <a:endParaRPr lang="en-US" sz="1400" dirty="0"/>
          </a:p>
        </p:txBody>
      </p:sp>
      <p:sp>
        <p:nvSpPr>
          <p:cNvPr id="17" name="stage-arrow"/>
          <p:cNvSpPr/>
          <p:nvPr/>
        </p:nvSpPr>
        <p:spPr>
          <a:xfrm>
            <a:off x="711403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18" name="stage-head"/>
          <p:cNvSpPr/>
          <p:nvPr/>
        </p:nvSpPr>
        <p:spPr>
          <a:xfrm>
            <a:off x="731520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236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Іске асыру</a:t>
            </a:r>
            <a:endParaRPr lang="en-US" sz="1700" dirty="0"/>
          </a:p>
        </p:txBody>
      </p:sp>
      <p:sp>
        <p:nvSpPr>
          <p:cNvPr id="20" name="stage-body"/>
          <p:cNvSpPr/>
          <p:nvPr/>
        </p:nvSpPr>
        <p:spPr>
          <a:xfrm>
            <a:off x="731520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веб-қосымша, ЖИ API интеграциясы, аналитика</a:t>
            </a:r>
            <a:endParaRPr lang="en-US" sz="1400" dirty="0"/>
          </a:p>
        </p:txBody>
      </p:sp>
      <p:sp>
        <p:nvSpPr>
          <p:cNvPr id="22" name="stage-arrow"/>
          <p:cNvSpPr/>
          <p:nvPr/>
        </p:nvSpPr>
        <p:spPr>
          <a:xfrm>
            <a:off x="935431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23" name="stage-head"/>
          <p:cNvSpPr/>
          <p:nvPr/>
        </p:nvSpPr>
        <p:spPr>
          <a:xfrm>
            <a:off x="9555480" y="1600200"/>
            <a:ext cx="2011680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5. Бағалау</a:t>
            </a:r>
            <a:endParaRPr lang="en-US" sz="1700" dirty="0"/>
          </a:p>
        </p:txBody>
      </p:sp>
      <p:sp>
        <p:nvSpPr>
          <p:cNvPr id="25" name="stage-body"/>
          <p:cNvSpPr/>
          <p:nvPr/>
        </p:nvSpPr>
        <p:spPr>
          <a:xfrm>
            <a:off x="955548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210 тест жағдайында автоматты эксперимент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ҚОЛДАНЫЛҒАН ӘДІСТЕР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617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Теориялық: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ғылыми әдебиетті талдау, салыстыру, жүйелеу, модельдеу.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Практикалық: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пайдаланушыға бағытталған жобалау (UCD), прототиптеу, бағдарламалау.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Эмпирикалық: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синтетикалық қателер жиынында есептік эксперимент, әрекет санын өлшеу.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Мнемоникалық модель «Кемпірқосақ жолы»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185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188720"/>
                <a:gridCol w="1371600"/>
                <a:gridCol w="1737360"/>
                <a:gridCol w="25603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Кейіпкер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Сұрақ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Промпт компоненті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Мысал (KZ → 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Қызыл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Түлкі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КІМ?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Субъект (кейіпкер)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мысық → a cute cat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ҚАЙДА?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Орын (контекст)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ғарыш → in outer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Жасыл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Бақа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ІСТЕЙДІ?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Әрекет (предикат)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ұшады → flying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ҚАНДАЙ?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Түс, көңіл-күй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кемпірқосақ → rainbow colors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Күлгін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5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Үкі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ҚАЛАЙ?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Көркем стиль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мультфильм → cartoon 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ЕСТЕ САҚТАУ МЕХАНИЗМІ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47548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Көп арналы кодтау: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әр компонент түс (кемпірқосақ реті), кейіпкер-жануар, сұрақ сөзі және пішін арқылы бекітіледі.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Тіл құрылымына сәйкестік: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қадамдар реті қазақ сөйлемінің S–O–V құрылымын қайталайды: «Мысық ғарышта ұшады».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Көлемі: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46 карточка; сөйлем қазақша құралып, ЖИ-ге ағылшынша аударма жіберіледі.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Дисграфия ерекшеліктері және интерфейстік шешімдер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185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080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Дисграфиядағы қиындық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МнемоСурет интерфейсіндегі шешім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Жазу кезінде әріп түсіру, ауыстыру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Сөзді карточкадан таңдау; жазу міндетті емес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Айна әріптерді шатастыру (б–д, п–б)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Қатеге төзімді іздеу: ұқсас әріп — 0,5 айыппұл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Сөзді буынға бөлудің қиындығы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Буындық жазылым: мы-сық, ұ-ша-ды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Әріп бейнесін есте сақтау әлсіздігі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Бірінші әріпті санат түсімен белгілеу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Оқу жылдамдығының төмендігі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Дыбыстау (TTS), реттелетін жылдамдық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Моторикалық шаршау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Дауыспен енгізу (STT, kk-KZ), үлкен басу аймақтары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Мотивацияның тез төмендеуі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Нәтиже 10–30 секундта, жұлдыздар жүйесі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Жүйенің архитектурасы</a:t>
            </a:r>
            <a:endParaRPr lang="en-US" sz="2800" dirty="0"/>
          </a:p>
        </p:txBody>
      </p:sp>
      <p:sp>
        <p:nvSpPr>
          <p:cNvPr id="3" name="n-user"/>
          <p:cNvSpPr/>
          <p:nvPr/>
        </p:nvSpPr>
        <p:spPr>
          <a:xfrm>
            <a:off x="594360" y="1463040"/>
            <a:ext cx="210312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Пайдаланушы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бала: карточка, дауыс, мәтін</a:t>
            </a:r>
            <a:endParaRPr lang="en-US" sz="1200" dirty="0"/>
          </a:p>
        </p:txBody>
      </p:sp>
      <p:sp>
        <p:nvSpPr>
          <p:cNvPr id="6" name="n-ui"/>
          <p:cNvSpPr/>
          <p:nvPr/>
        </p:nvSpPr>
        <p:spPr>
          <a:xfrm>
            <a:off x="3108960" y="146304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Мнемо-интерфейс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6"/>
                </a:solidFill>
              </a:rPr>
              <a:t>кемпірқосақ жолы, буын, TTS/STT</a:t>
            </a:r>
            <a:endParaRPr lang="en-US" sz="1200" dirty="0"/>
          </a:p>
        </p:txBody>
      </p:sp>
      <p:sp>
        <p:nvSpPr>
          <p:cNvPr id="9" name="n-prompt"/>
          <p:cNvSpPr/>
          <p:nvPr/>
        </p:nvSpPr>
        <p:spPr>
          <a:xfrm>
            <a:off x="6172200" y="146304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Промпт құрастырушы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6"/>
                </a:solidFill>
              </a:rPr>
              <a:t>KZ→EN, қауіпсіз суффикс, шектеулі сөздік</a:t>
            </a:r>
            <a:endParaRPr lang="en-US" sz="1200" dirty="0"/>
          </a:p>
        </p:txBody>
      </p:sp>
      <p:sp>
        <p:nvSpPr>
          <p:cNvPr id="12" name="n-ai"/>
          <p:cNvSpPr/>
          <p:nvPr/>
        </p:nvSpPr>
        <p:spPr>
          <a:xfrm>
            <a:off x="9235440" y="1463040"/>
            <a:ext cx="237744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ЖИ генератор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Pollinations API (Flux), 3 рет қайталау</a:t>
            </a:r>
            <a:endParaRPr lang="en-US" sz="1200" dirty="0"/>
          </a:p>
        </p:txBody>
      </p:sp>
      <p:sp>
        <p:nvSpPr>
          <p:cNvPr id="15" name="flow-arrow"/>
          <p:cNvSpPr/>
          <p:nvPr/>
        </p:nvSpPr>
        <p:spPr>
          <a:xfrm>
            <a:off x="269748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6" name="flow-arrow"/>
          <p:cNvSpPr/>
          <p:nvPr/>
        </p:nvSpPr>
        <p:spPr>
          <a:xfrm>
            <a:off x="576072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7" name="flow-arrow"/>
          <p:cNvSpPr/>
          <p:nvPr/>
        </p:nvSpPr>
        <p:spPr>
          <a:xfrm>
            <a:off x="882396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8" name="n-fuzzy"/>
          <p:cNvSpPr/>
          <p:nvPr/>
        </p:nvSpPr>
        <p:spPr>
          <a:xfrm>
            <a:off x="3108960" y="3566160"/>
            <a:ext cx="265176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Қатені тану модулі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салмақталған Дамерау–Левенштейн</a:t>
            </a:r>
            <a:endParaRPr lang="en-US" sz="1200" dirty="0"/>
          </a:p>
        </p:txBody>
      </p:sp>
      <p:sp>
        <p:nvSpPr>
          <p:cNvPr id="21" name="n-store"/>
          <p:cNvSpPr/>
          <p:nvPr/>
        </p:nvSpPr>
        <p:spPr>
          <a:xfrm>
            <a:off x="6172200" y="3566160"/>
            <a:ext cx="265176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Деректер қоймасы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localStorage: галерея, сессиялар, баптаулар</a:t>
            </a:r>
            <a:endParaRPr lang="en-US" sz="1200" dirty="0"/>
          </a:p>
        </p:txBody>
      </p:sp>
      <p:sp>
        <p:nvSpPr>
          <p:cNvPr id="24" name="n-off"/>
          <p:cNvSpPr/>
          <p:nvPr/>
        </p:nvSpPr>
        <p:spPr>
          <a:xfrm>
            <a:off x="9235440" y="3566160"/>
            <a:ext cx="237744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0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Офлайн режим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4069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желі болмаса — жергілікті эскиз</a:t>
            </a:r>
            <a:endParaRPr lang="en-US" sz="1200" dirty="0"/>
          </a:p>
        </p:txBody>
      </p:sp>
      <p:sp>
        <p:nvSpPr>
          <p:cNvPr id="27" name="n-teacher"/>
          <p:cNvSpPr/>
          <p:nvPr/>
        </p:nvSpPr>
        <p:spPr>
          <a:xfrm>
            <a:off x="594360" y="3566160"/>
            <a:ext cx="210312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Мұғалім панелі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көрсеткіштер, графиктер, баптаулар</a:t>
            </a:r>
            <a:endParaRPr lang="en-US" sz="1200" dirty="0"/>
          </a:p>
        </p:txBody>
      </p:sp>
      <p:sp>
        <p:nvSpPr>
          <p:cNvPr id="30" name="flow-arrow"/>
          <p:cNvSpPr/>
          <p:nvPr/>
        </p:nvSpPr>
        <p:spPr>
          <a:xfrm>
            <a:off x="4434840" y="2788920"/>
            <a:ext cx="0" cy="77724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1" name="flow-arrow"/>
          <p:cNvSpPr/>
          <p:nvPr/>
        </p:nvSpPr>
        <p:spPr>
          <a:xfrm>
            <a:off x="10424160" y="2788920"/>
            <a:ext cx="0" cy="77724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2" name="flow-arrow"/>
          <p:cNvSpPr/>
          <p:nvPr/>
        </p:nvSpPr>
        <p:spPr>
          <a:xfrm flipH="1">
            <a:off x="8823960" y="422452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3" name="flow-arrow"/>
          <p:cNvSpPr/>
          <p:nvPr/>
        </p:nvSpPr>
        <p:spPr>
          <a:xfrm>
            <a:off x="7498080" y="4892040"/>
            <a:ext cx="0" cy="27432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</a:ln>
        </p:spPr>
      </p:sp>
      <p:sp>
        <p:nvSpPr>
          <p:cNvPr id="34" name="flow-arrow"/>
          <p:cNvSpPr/>
          <p:nvPr/>
        </p:nvSpPr>
        <p:spPr>
          <a:xfrm>
            <a:off x="1645920" y="5166360"/>
            <a:ext cx="585216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</a:ln>
        </p:spPr>
      </p:sp>
      <p:sp>
        <p:nvSpPr>
          <p:cNvPr id="35" name="flow-arrow"/>
          <p:cNvSpPr/>
          <p:nvPr/>
        </p:nvSpPr>
        <p:spPr>
          <a:xfrm flipV="1">
            <a:off x="1645920" y="4892040"/>
            <a:ext cx="0" cy="27432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94360" y="5440680"/>
            <a:ext cx="1101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Клиенттік архитектура: сервер қажет емес, қосымша браузерде орнатусыз іске қосылады. Генераторға тек сөздіктегі сөздерден құралған мәтін жіберіледі, бұл балаға қолайсыз контент тәуекелін төмендетеді.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Дисграфияға бейімделген сөз тану алгоритмі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1. НОРМАЛИЗАЦИЯ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37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φ(w): кіші әріп; қазақ әріптері орыс баламасына теңестіріледі: ә→а, ө→о, ұ,ү→у, қ→к, ғ→г, ң→н, і→и.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2. САЛМАҚТАЛҒАН ҚАШЫҚТЫҚ</a:t>
            </a:r>
            <a:endParaRPr lang="en-US" sz="1100" dirty="0"/>
          </a:p>
        </p:txBody>
      </p:sp>
      <p:sp>
        <p:nvSpPr>
          <p:cNvPr id="6" name="formula"/>
          <p:cNvSpPr/>
          <p:nvPr/>
        </p:nvSpPr>
        <p:spPr>
          <a:xfrm>
            <a:off x="594360" y="2971800"/>
            <a:ext cx="530352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d(i, j) = min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d(i−1, j) + 1,   d(i, j−1) + 1,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d(i−1, j−1) + c(aᵢ, bⱼ),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d(i−2, j−2) + 0,5   — орын ауыстыру }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c(a, b) = 0, егер a = b;  0,5 — айна жұп (б–д, п–б, з–с, ш–щ);  1 — қалған жағдайда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3. ШЕШІМ ЕРЕЖЕСІ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8308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Шек: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τ(w) = max(1, ⌊|w| / 3⌋) — ұзын сөзге көбірек қате рұқсат етіледі.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Префикс: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кіріс сөздің басы болса, d = 0,3 (бала сөзді аяқтамаса да танылады).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Нәтиже: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 ≤ τ болатын карточкалар d бойынша сұрыпталып, 5 ұсыныс көрсетіледі.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Растау: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бала ұсынысты өзі таңдайды — жүйе автоматты түрде алмастырмайды.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6355080" y="4709160"/>
            <a:ext cx="525780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Мысал: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«гарш» → φ → «гарш»;  d(«гарш», «гариш») = 1 ≤ τ = 1  ⇒  ғарыш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үйрену режимі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7315200" cy="45994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242048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07608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1-сурет. Үйрену режимі: «Кім?» компонентін таңдау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93608" y="13716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93608" y="1737360"/>
            <a:ext cx="334670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Қадамдық өту: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келесі компоненттер алдыңғысы толтырылғанша бұғатталады — тізбек бекиді.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Кейіпкер-нұсқаушы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сұрақты мәтінмен және дауыспен береді.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Карточкалар: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буындық жазылым, бірінші әріп санат түсімен белгіленген.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Сөйлем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таңдау барысында автоматты құралады.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промпт құру және генерация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6862572" cy="45994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789420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07608"/>
            <a:ext cx="6789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2-сурет. Толық промпт және ЖИ генерациясының нәтижесі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40980" y="1371600"/>
            <a:ext cx="379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40980" y="1737360"/>
            <a:ext cx="37993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Бес компонент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толтырылғаннан кейін генерация батырмасы белсенді болады.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Аударма: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қазақша сөйлем ағылшынша промптқа түрленеді: «a cute cat flying in outer space, rainbow colors, cartoon style…»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Генерация уақыты: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10–30 с (Pollinations API).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Сақтау: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нәтиже галереяға компоненттерімен бірге жазылады.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қатеге төзімді енгізу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7315200" cy="45994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ty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242048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07608"/>
            <a:ext cx="724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3-сурет. Қате жазылған сөзді тану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93608" y="13716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93608" y="1737360"/>
            <a:ext cx="334670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Мәтіндік енгізу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міндетті емес, бірақ қолжетімді — бала өзі жазып көре алады.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Ұсыныс: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қате жазылған «гарш» сөзі үшін «ғарыш» карточкасы ұсынылады.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Дауыстық енгізу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нәтижесі де осы алгоритммен өңделеді.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Статистика: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түзетілген сөздер саны мұғалім панеліне жазылады.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мұғалім панелі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5596748" cy="45994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523596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07608"/>
            <a:ext cx="5523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4-сурет. Мұғалім панелі (демонстрациялық деректер)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75156" y="1371600"/>
            <a:ext cx="5065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75156" y="1737360"/>
            <a:ext cx="506515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Көрсеткіштер: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суреттер саны, промпт құрау уақыты, түзетілген сөздер.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Динамика: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күндік белсенділік және құрау уақытының өзгерісі.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Құрылым: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енгізу тәсілдерінің үлесі, жиі қолданылатын сөздер.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Бейімдеу: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буын, түс белгісі, қаріп өлшемі, оқу жылдамдығы.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Эксперимент: қате жазылған сөзді тану дәлдігі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72237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924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ЭКСПЕРИМЕНТ ШАРТТАРЫ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092440" y="17373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Сөздік: 43 бір сөзді карточка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Қатенің 6 типі, барлығы 210 тест жағдайы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Қателер дисграфия типологиясы бойынша автоматты енгізілді</a:t>
            </a:r>
            <a:endParaRPr lang="en-US" sz="1400" dirty="0"/>
          </a:p>
        </p:txBody>
      </p:sp>
      <p:sp>
        <p:nvSpPr>
          <p:cNvPr id="6" name="res1"/>
          <p:cNvSpPr/>
          <p:nvPr/>
        </p:nvSpPr>
        <p:spPr>
          <a:xfrm>
            <a:off x="8092440" y="3520440"/>
            <a:ext cx="3520440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бір қате кезіндегі Top-1 дәлдік</a:t>
            </a:r>
            <a:endParaRPr lang="en-US" sz="1300" dirty="0"/>
          </a:p>
        </p:txBody>
      </p:sp>
      <p:sp>
        <p:nvSpPr>
          <p:cNvPr id="9" name="res2"/>
          <p:cNvSpPr/>
          <p:nvPr/>
        </p:nvSpPr>
        <p:spPr>
          <a:xfrm>
            <a:off x="8092440" y="4892040"/>
            <a:ext cx="3520440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4956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екі қате қатар келгенде — жетілдіруді қажет етеді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Нәтиже: промпт құрудың күрделілігі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1"/>
          <p:cNvSpPr/>
          <p:nvPr/>
        </p:nvSpPr>
        <p:spPr>
          <a:xfrm>
            <a:off x="7818120" y="1417320"/>
            <a:ext cx="379476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есе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аз әрекет: ағылшынша промпт жазумен салыстырғанда</a:t>
            </a:r>
            <a:endParaRPr lang="en-US" sz="1400" dirty="0"/>
          </a:p>
        </p:txBody>
      </p:sp>
      <p:sp>
        <p:nvSpPr>
          <p:cNvPr id="7" name="k2"/>
          <p:cNvSpPr/>
          <p:nvPr/>
        </p:nvSpPr>
        <p:spPr>
          <a:xfrm>
            <a:off x="7818120" y="3611880"/>
            <a:ext cx="379476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таңба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жазу талап етілмейді: 5 карточка және 1 генерация батырмасы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5806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Есептеу: жобадағы 8 демонстрациялық сұраныс бойынша (tests/fuzzy_eval.js).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Қорытынды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4173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Дисграфияның интерфейске қоятын талаптары жүйеленіп, 7 қиындыққа сәйкес интерфейстік шешімдер анықталды.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671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6712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Промпттың бес семантикалық компонентін кодтайтын «Кемпірқосақ жолы» мнемоникалық моделі әзірленді.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169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1693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Дисграфияға бейімделген сөз тану алгоритмі құрылды: бір қате кезінде Top-1 дәлдігі 97%.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6674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66674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ЖИ генераторымен интеграцияланған, офлайн режимі бар «МнемоСурет» веб-қосымшасы іске асырылды.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165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416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Промпт құруға қажетті әрекет саны 77-ден 6-ға дейін қысқарды; гипотеза есептік деңгейде расталды.</a:t>
            </a:r>
            <a:endParaRPr lang="en-US" sz="1500" dirty="0"/>
          </a:p>
        </p:txBody>
      </p:sp>
      <p:sp>
        <p:nvSpPr>
          <p:cNvPr id="13" name="future"/>
          <p:cNvSpPr/>
          <p:nvPr/>
        </p:nvSpPr>
        <p:spPr>
          <a:xfrm>
            <a:off x="7589520" y="1417320"/>
            <a:ext cx="40233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ДАМУ ПЕРСПЕКТИВАЛАРЫ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0116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Логопед-мұғаліммен бақылау және тәжірибе топтарында педагогикалық эксперимент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Екі және одан көп қатені контекст арқылы тану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Қазақ тіліндегі сапалы TTS дауысын интеграциялау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Мұғалімге арналған карточка редакторы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Назарларыңызға рақмет!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CAD8"/>
                </a:solidFill>
              </a:rPr>
              <a:t>Сұрақтарыңызға жауап беруге дайынмын</a:t>
            </a:r>
            <a:endParaRPr lang="en-US" sz="1800" dirty="0"/>
          </a:p>
        </p:txBody>
      </p:sp>
      <p:sp>
        <p:nvSpPr>
          <p:cNvPr id="4" name="divider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4552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AD8"/>
                </a:solidFill>
              </a:rPr>
              <a:t>[аты-жөні]  ·  [e-mail]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emoSuret Defense">
  <a:themeElements>
    <a:clrScheme name="MnemoSuret Defense">
      <a:dk1>
        <a:srgbClr val="1E2433"/>
      </a:dk1>
      <a:lt1>
        <a:srgbClr val="FFFFFF"/>
      </a:lt1>
      <a:dk2>
        <a:srgbClr val="1F2A44"/>
      </a:dk2>
      <a:lt2>
        <a:srgbClr val="F2F4F8"/>
      </a:lt2>
      <a:accent1>
        <a:srgbClr val="1F2A44"/>
      </a:accent1>
      <a:accent2>
        <a:srgbClr val="3C6E9F"/>
      </a:accent2>
      <a:accent3>
        <a:srgbClr val="B33A3A"/>
      </a:accent3>
      <a:accent4>
        <a:srgbClr val="8C95A8"/>
      </a:accent4>
      <a:accent5>
        <a:srgbClr val="D6DCE6"/>
      </a:accent5>
      <a:accent6>
        <a:srgbClr val="5A6275"/>
      </a:accent6>
      <a:hlink>
        <a:srgbClr val="3C6E9F"/>
      </a:hlink>
      <a:folHlink>
        <a:srgbClr val="1F2A44"/>
      </a:folHlink>
    </a:clrScheme>
    <a:fontScheme name="MnemoSuret Def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МнемоСурет — дипломдық жұмыс</dc:title>
  <dc:subject>PptxGenJS Presentation</dc:subject>
  <dc:creator>[Аты-жөні]</dc:creator>
  <cp:lastModifiedBy>[Аты-жөні]</cp:lastModifiedBy>
  <cp:revision>1</cp:revision>
  <dcterms:created xsi:type="dcterms:W3CDTF">2026-10-14T12:39:18Z</dcterms:created>
  <dcterms:modified xsi:type="dcterms:W3CDTF">2026-10-14T12:39:18Z</dcterms:modified>
</cp:coreProperties>
</file>